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0e4fab33bd45cf" /><Relationship Type="http://schemas.openxmlformats.org/officeDocument/2006/relationships/extended-properties" Target="/docProps/app.xml" Id="Rea319598f7ee4e5a" /><Relationship Type="http://schemas.openxmlformats.org/officeDocument/2006/relationships/officeDocument" Target="/ppt/presentation.xml" Id="R12b94e481d86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232b4f2be4d5a"/>
  </p:sldMasterIdLst>
  <p:notesMasterIdLst>
    <p:notesMasterId xmlns:r="http://schemas.openxmlformats.org/officeDocument/2006/relationships" r:id="R8d7c920351914ef7"/>
  </p:notesMasterIdLst>
  <p:sldIdLst>
    <p:sldId xmlns:r="http://schemas.openxmlformats.org/officeDocument/2006/relationships" id="256" r:id="R0e61ccd191ff4506"/>
    <p:sldId xmlns:r="http://schemas.openxmlformats.org/officeDocument/2006/relationships" id="257" r:id="R2f7ae289425246c2"/>
    <p:sldId xmlns:r="http://schemas.openxmlformats.org/officeDocument/2006/relationships" id="258" r:id="Re88ab65d78d54d5f"/>
    <p:sldId xmlns:r="http://schemas.openxmlformats.org/officeDocument/2006/relationships" id="259" r:id="Rb5fd364a842140bf"/>
    <p:sldId xmlns:r="http://schemas.openxmlformats.org/officeDocument/2006/relationships" id="260" r:id="R15e84642a3a44a13"/>
    <p:sldId xmlns:r="http://schemas.openxmlformats.org/officeDocument/2006/relationships" id="261" r:id="Rdd74305354484710"/>
    <p:sldId xmlns:r="http://schemas.openxmlformats.org/officeDocument/2006/relationships" id="262" r:id="R707a472ab40e4fcb"/>
    <p:sldId xmlns:r="http://schemas.openxmlformats.org/officeDocument/2006/relationships" id="263" r:id="R47f0e2d54a6147e2"/>
    <p:sldId xmlns:r="http://schemas.openxmlformats.org/officeDocument/2006/relationships" id="264" r:id="R7b6c82bc67554032"/>
    <p:sldId xmlns:r="http://schemas.openxmlformats.org/officeDocument/2006/relationships" id="265" r:id="R333480dd70f7439e"/>
    <p:sldId xmlns:r="http://schemas.openxmlformats.org/officeDocument/2006/relationships" id="266" r:id="R0a41447dfb2849cf"/>
    <p:sldId xmlns:r="http://schemas.openxmlformats.org/officeDocument/2006/relationships" id="267" r:id="Red2cc164c901445f"/>
    <p:sldId xmlns:r="http://schemas.openxmlformats.org/officeDocument/2006/relationships" id="268" r:id="R362afba0235c468f"/>
    <p:sldId xmlns:r="http://schemas.openxmlformats.org/officeDocument/2006/relationships" id="269" r:id="R6ca35b2c6e4141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232b4f2be4d5a" /><Relationship Type="http://schemas.openxmlformats.org/officeDocument/2006/relationships/theme" Target="/ppt/theme/theme1.xml" Id="Rfc2c6fbcc14f4a1f" /><Relationship Type="http://schemas.openxmlformats.org/officeDocument/2006/relationships/notesMaster" Target="/ppt/notesMasters/notesMaster1.xml" Id="R8d7c920351914ef7" /><Relationship Type="http://schemas.openxmlformats.org/officeDocument/2006/relationships/presProps" Target="/ppt/presProps.xml" Id="Rb8f693d6e6c44549" /><Relationship Type="http://schemas.openxmlformats.org/officeDocument/2006/relationships/viewProps" Target="/ppt/viewProps.xml" Id="R5ad82abde22349bd" /><Relationship Type="http://schemas.openxmlformats.org/officeDocument/2006/relationships/tableStyles" Target="/ppt/tableStyles.xml" Id="Rc28d7ee38caf4867" /><Relationship Type="http://schemas.openxmlformats.org/officeDocument/2006/relationships/slide" Target="/ppt/slides/slide1.xml" Id="R0e61ccd191ff4506" /><Relationship Type="http://schemas.openxmlformats.org/officeDocument/2006/relationships/slide" Target="/ppt/slides/slide2.xml" Id="R2f7ae289425246c2" /><Relationship Type="http://schemas.openxmlformats.org/officeDocument/2006/relationships/slide" Target="/ppt/slides/slide3.xml" Id="Re88ab65d78d54d5f" /><Relationship Type="http://schemas.openxmlformats.org/officeDocument/2006/relationships/slide" Target="/ppt/slides/slide4.xml" Id="Rb5fd364a842140bf" /><Relationship Type="http://schemas.openxmlformats.org/officeDocument/2006/relationships/slide" Target="/ppt/slides/slide5.xml" Id="R15e84642a3a44a13" /><Relationship Type="http://schemas.openxmlformats.org/officeDocument/2006/relationships/slide" Target="/ppt/slides/slide6.xml" Id="Rdd74305354484710" /><Relationship Type="http://schemas.openxmlformats.org/officeDocument/2006/relationships/slide" Target="/ppt/slides/slide7.xml" Id="R707a472ab40e4fcb" /><Relationship Type="http://schemas.openxmlformats.org/officeDocument/2006/relationships/slide" Target="/ppt/slides/slide8.xml" Id="R47f0e2d54a6147e2" /><Relationship Type="http://schemas.openxmlformats.org/officeDocument/2006/relationships/slide" Target="/ppt/slides/slide9.xml" Id="R7b6c82bc67554032" /><Relationship Type="http://schemas.openxmlformats.org/officeDocument/2006/relationships/slide" Target="/ppt/slides/slide10.xml" Id="R333480dd70f7439e" /><Relationship Type="http://schemas.openxmlformats.org/officeDocument/2006/relationships/slide" Target="/ppt/slides/slide11.xml" Id="R0a41447dfb2849cf" /><Relationship Type="http://schemas.openxmlformats.org/officeDocument/2006/relationships/slide" Target="/ppt/slides/slide12.xml" Id="Red2cc164c901445f" /><Relationship Type="http://schemas.openxmlformats.org/officeDocument/2006/relationships/slide" Target="/ppt/slides/slide13.xml" Id="R362afba0235c468f" /><Relationship Type="http://schemas.openxmlformats.org/officeDocument/2006/relationships/slide" Target="/ppt/slides/slide14.xml" Id="R6ca35b2c6e41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e52c99a9f847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8e957027d40c0" /><Relationship Type="http://schemas.openxmlformats.org/officeDocument/2006/relationships/notesMaster" Target="/ppt/notesMasters/notesMaster1.xml" Id="R31d36285daf7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2101ca7304e61" /><Relationship Type="http://schemas.openxmlformats.org/officeDocument/2006/relationships/notesMaster" Target="/ppt/notesMasters/notesMaster1.xml" Id="R0f73de379dea4a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aa29d81327484d" /><Relationship Type="http://schemas.openxmlformats.org/officeDocument/2006/relationships/notesMaster" Target="/ppt/notesMasters/notesMaster1.xml" Id="R30ab7e229bfa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5aa8dacdb4461" /><Relationship Type="http://schemas.openxmlformats.org/officeDocument/2006/relationships/notesMaster" Target="/ppt/notesMasters/notesMaster1.xml" Id="R25b1d7701d0349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5caac794f4084" /><Relationship Type="http://schemas.openxmlformats.org/officeDocument/2006/relationships/notesMaster" Target="/ppt/notesMasters/notesMaster1.xml" Id="R7ecb1ac0761a4b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81843283fa4129" /><Relationship Type="http://schemas.openxmlformats.org/officeDocument/2006/relationships/notesMaster" Target="/ppt/notesMasters/notesMaster1.xml" Id="Ra2c7aede90a3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0ef78eae264d4c" /><Relationship Type="http://schemas.openxmlformats.org/officeDocument/2006/relationships/notesMaster" Target="/ppt/notesMasters/notesMaster1.xml" Id="R052a05044cf8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6047548ad646a3" /><Relationship Type="http://schemas.openxmlformats.org/officeDocument/2006/relationships/notesMaster" Target="/ppt/notesMasters/notesMaster1.xml" Id="R6f739fa806a14e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72b6cd6b044429" /><Relationship Type="http://schemas.openxmlformats.org/officeDocument/2006/relationships/notesMaster" Target="/ppt/notesMasters/notesMaster1.xml" Id="R3e23eee824184e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3ec54132194f4c" /><Relationship Type="http://schemas.openxmlformats.org/officeDocument/2006/relationships/notesMaster" Target="/ppt/notesMasters/notesMaster1.xml" Id="R586557a221ae41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ec0d4590d443a" /><Relationship Type="http://schemas.openxmlformats.org/officeDocument/2006/relationships/notesMaster" Target="/ppt/notesMasters/notesMaster1.xml" Id="R015088bcf45147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918a01f1d24da0" /><Relationship Type="http://schemas.openxmlformats.org/officeDocument/2006/relationships/notesMaster" Target="/ppt/notesMasters/notesMaster1.xml" Id="R76582748056547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9ae7aa8ada4019" /><Relationship Type="http://schemas.openxmlformats.org/officeDocument/2006/relationships/notesMaster" Target="/ppt/notesMasters/notesMaster1.xml" Id="Re506b94fd6c24d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3de6db4e4b4a56" /><Relationship Type="http://schemas.openxmlformats.org/officeDocument/2006/relationships/notesMaster" Target="/ppt/notesMasters/notesMaster1.xml" Id="R340e709b01a6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35d2d61f14b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e361d757d14258" /><Relationship Type="http://schemas.openxmlformats.org/officeDocument/2006/relationships/slideLayout" Target="/ppt/slideLayouts/slideLayout2.xml" Id="R0d5f4321726b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f4321726b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af2f06c3524ec7" /><Relationship Type="http://schemas.openxmlformats.org/officeDocument/2006/relationships/image" Target="/ppt/media/image.jpeg" Id="R3e8c0f4cd5494bd5" /><Relationship Type="http://schemas.openxmlformats.org/officeDocument/2006/relationships/notesSlide" Target="/ppt/notesSlides/notesSlide1.xml" Id="R141ae5fd353d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7e6b01a1c4755" /><Relationship Type="http://schemas.openxmlformats.org/officeDocument/2006/relationships/notesSlide" Target="/ppt/notesSlides/notesSlide2.xml" Id="R1ed746a1ef29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470829ed34d6d" /><Relationship Type="http://schemas.openxmlformats.org/officeDocument/2006/relationships/notesSlide" Target="/ppt/notesSlides/notesSlide3.xml" Id="R157758d8f5ec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2ef47c7d941e3" /><Relationship Type="http://schemas.openxmlformats.org/officeDocument/2006/relationships/image" Target="/ppt/media/image2.jpeg" Id="R0c64e1718b4a4e4c" /><Relationship Type="http://schemas.openxmlformats.org/officeDocument/2006/relationships/notesSlide" Target="/ppt/notesSlides/notesSlide4.xml" Id="R850c74b30d8f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941a6fe4641db" /><Relationship Type="http://schemas.openxmlformats.org/officeDocument/2006/relationships/image" Target="/ppt/media/image.png" Id="Rd0217585989f44de" /><Relationship Type="http://schemas.openxmlformats.org/officeDocument/2006/relationships/notesSlide" Target="/ppt/notesSlides/notesSlide5.xml" Id="R660ee7bc4c384d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5a89799ec4fae" /><Relationship Type="http://schemas.openxmlformats.org/officeDocument/2006/relationships/image" Target="/ppt/media/image3.jpeg" Id="Raddef7e063734903" /><Relationship Type="http://schemas.openxmlformats.org/officeDocument/2006/relationships/image" Target="/ppt/media/image4.jpeg" Id="Ra49294bda81c4b38" /><Relationship Type="http://schemas.openxmlformats.org/officeDocument/2006/relationships/notesSlide" Target="/ppt/notesSlides/notesSlide6.xml" Id="R47d5b5866151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e94c8896df4828" /><Relationship Type="http://schemas.openxmlformats.org/officeDocument/2006/relationships/image" Target="/ppt/media/image5.jpeg" Id="R328423b3a51d45ff" /><Relationship Type="http://schemas.openxmlformats.org/officeDocument/2006/relationships/notesSlide" Target="/ppt/notesSlides/notesSlide7.xml" Id="Ra275c8b5d10b4b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4ec22b8b54245" /><Relationship Type="http://schemas.openxmlformats.org/officeDocument/2006/relationships/notesSlide" Target="/ppt/notesSlides/notesSlide8.xml" Id="R00f9d1c053a1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5de3b4ae84343" /><Relationship Type="http://schemas.openxmlformats.org/officeDocument/2006/relationships/image" Target="/ppt/media/image6.jpeg" Id="Rc50b3deba1fe4dbb" /><Relationship Type="http://schemas.openxmlformats.org/officeDocument/2006/relationships/notesSlide" Target="/ppt/notesSlides/notesSlide9.xml" Id="R96504a92ffe043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c0c96e20b4c90" /><Relationship Type="http://schemas.openxmlformats.org/officeDocument/2006/relationships/notesSlide" Target="/ppt/notesSlides/notesSlide10.xml" Id="Red151f0f804c41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6ec3b92a8c47f8" /><Relationship Type="http://schemas.openxmlformats.org/officeDocument/2006/relationships/image" Target="/ppt/media/image7.jpeg" Id="Racab0afc82cd4eeb" /><Relationship Type="http://schemas.openxmlformats.org/officeDocument/2006/relationships/notesSlide" Target="/ppt/notesSlides/notesSlide11.xml" Id="Rf5c173060cd04d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3f9cd12fb4ac3" /><Relationship Type="http://schemas.openxmlformats.org/officeDocument/2006/relationships/image" Target="/ppt/media/image8.jpeg" Id="R4aad975c6ccc486d" /><Relationship Type="http://schemas.openxmlformats.org/officeDocument/2006/relationships/image" Target="/ppt/media/image9.jpeg" Id="R2e2a9d958b1449a0" /><Relationship Type="http://schemas.openxmlformats.org/officeDocument/2006/relationships/notesSlide" Target="/ppt/notesSlides/notesSlide12.xml" Id="R3b9407c974ba4b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af9ca6a77a4d62" /><Relationship Type="http://schemas.openxmlformats.org/officeDocument/2006/relationships/image" Target="/ppt/media/image10.jpeg" Id="R1e855f029f244d6e" /><Relationship Type="http://schemas.openxmlformats.org/officeDocument/2006/relationships/notesSlide" Target="/ppt/notesSlides/notesSlide13.xml" Id="R36d9046cea2145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aaabe2f084a3f" /><Relationship Type="http://schemas.openxmlformats.org/officeDocument/2006/relationships/notesSlide" Target="/ppt/notesSlides/notesSlide14.xml" Id="R030470db0f6148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1F189-ABB9-4E2F-B494-989D435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F"/>
              </a:gs>
              <a:gs pos="50000">
                <a:srgbClr val="EAF3FF"/>
              </a:gs>
              <a:gs pos="100000">
                <a:srgbClr val="FFFFFF"/>
              </a:gs>
            </a:gsLst>
            <a:lin ang="78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4E4D0-4A90-4625-A04A-D20EFF6E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招聘系统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AB1C4-D3C7-4674-B14F-66E23E3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SOP 使用手册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62386-3D0B-4838-9868-1BA328E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从岗位创建到审计追溯，一条线完成招聘协作。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7549B-AB3E-44F6-B25F-89AE83D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CC2AF-FF4F-4914-B586-FF558DA7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岗位配置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46C4F-ADAB-4A32-B37B-980DA30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956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BBF7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A9782-BBE5-4F52-8E03-AA66FF0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智能匹配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03C0A-7577-48A6-B861-F09336A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BB1D4-F767-46E8-BD9A-90AA6E10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初筛追溯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E5827-80E5-4978-8896-F524417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09575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7533D-38E5-46B3-B6A0-B2762C3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0F0F3-0C9B-4DA7-9BC7-3F9A1DC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HR 招聘专员、招聘主管、岗位负责人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DF3E9-A466-4D8A-A66F-10105BD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交付目标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01093-4EAD-4F65-BE53-16866C53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能照着关键节点完成真实招聘流程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BBCCD-D1B6-48EE-8DC4-2033470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5524500" cy="2466975"/>
          </a:xfrm>
          <a:prstGeom xmlns:a="http://schemas.openxmlformats.org/drawingml/2006/main" prst="roundRect">
            <a:avLst>
              <a:gd name="adj" fmla="val 100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c0f4cd5494bd5"/>
          <a:stretch xmlns:a="http://schemas.openxmlformats.org/drawingml/2006/main"/>
        </p:blipFill>
        <p:spPr>
          <a:xfrm xmlns:a="http://schemas.openxmlformats.org/drawingml/2006/main">
            <a:off x="5812109" y="1085850"/>
            <a:ext cx="5330283" cy="22764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CA21D-B91C-47C4-9633-8F4E25C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3143250" cy="1295400"/>
          </a:xfrm>
          <a:prstGeom xmlns:a="http://schemas.openxmlformats.org/drawingml/2006/main" prst="roundRect">
            <a:avLst>
              <a:gd name="adj" fmla="val 1911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66060-D518-4006-B81F-6BD4E24C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76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682B9-84DD-4619-9AB7-8A58322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7F4"/>
                </a:solidFill>
                <a:latin typeface="Microsoft YaHei"/>
                <a:ea typeface="Microsoft YaHei"/>
                <a:cs typeface="Microsoft YaHei"/>
              </a:rPr>
              <a:t>截图保留高清底图；红框、编号、说明文字均为 PPT 可编辑元素。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74BEB-51AF-4531-A75B-20D5CB9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656AD-0781-4430-BD9C-FF3FCA49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80E49-1695-4596-A666-79D8BB2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076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CDFF0-C2DA-407A-952C-A352158C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D220D-B305-4B6B-9EC3-12BCD38E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为什么要用这套 AI 招聘流程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B2A9D-2F70-4DA1-88B4-EA8B424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不是替 HR 做决定，而是把重复判断、批量分流和过程留痕交给系统。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C1BC8-7EEB-4351-A36C-A23C996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D6B60-FA44-48ED-99E0-D1D9CEBB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ABDEA-081E-4F81-9D04-BBBBB016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少切换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3D9EE-666A-438B-8C9C-1B11B1E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岗位、简历、初筛、人才库在一条主线上推进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58D08-3CD3-42AC-8939-6755CD1C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138F7-F237-4E3C-B4F1-7697EF90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860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49E32-ABE0-46C3-BFF1-132A248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241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更一致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5B6D4-E41C-4527-88E7-A0995A3A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2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用同一套评估方案解释通过与淘汰原因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BE53E-E1D9-47C5-AE91-7EEC1B97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9270D-8D81-4E79-A4F5-439A195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4B7C7-5793-4480-AB52-5F5BEC0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D9C14-18B7-4117-8E7A-93A17CA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 输入输出、状态变化和失败原因可回看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A7FEB-D78D-4CC9-AB08-37EFDE5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095500" cy="2952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1816D-BF2D-4240-8A2E-662D5A5B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适合三类场景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E51F1-1D3A-4AAE-9040-34C92B56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1D715-B0E1-43EF-86A8-F686257C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批量收简历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9A407-4C81-49A0-A35B-38E2A08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71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FAD46-FD8B-42D6-97EE-C08DFC86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岗位多、来源杂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3BC76-94D9-498C-AA74-F5FBFB84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29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67815-1435-4C95-B459-34666CC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主管要看过程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63787-3690-469F-85F9-63D814B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52475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FE3AE-DE8C-4381-940B-86EB1A66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8B53D-7AE8-4055-B4B3-F4B8F442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先配置岗位与评估标准，再上传简历；AI 负责推荐和评分，HR 负责确认和推进。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A6DBC-D7FB-40AC-B13C-85917FF0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127A3-62DE-49B3-B13B-98360748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8EA13-23E8-4E89-A937-859D6798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4402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C4749-CE52-465C-832A-6D173683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DC4E-2942-4B6A-983A-A262AB1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完整流程只围绕一条主线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5D06B-7B9C-4147-B4C9-F16690A9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创建岗位后，所有候选人要么进入候选人列表推进，要么进入人才库等待处理。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B539B-96A4-4F50-BE4E-DAAD5638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E4F65-899B-46A8-94DE-F6C6AD8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DE317-849B-4001-9251-052DFB8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创建岗位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BF7EB-1FE4-480F-9BE6-714D454B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81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30875-EA6C-4F94-ACAF-C146C66D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5192B-F8C1-46C2-B85C-4CC273C5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69737-D3A0-4E39-B16E-8C03B11A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03D5B-7D3B-4BE6-B72C-3AEF22B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配置 JD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59759-ED9D-450F-B99C-8A626EA5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92F0F-3F93-446B-8BA3-BCA6B8A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0FF96-13E7-475D-A3B9-E35FD1B0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67954-4E60-4928-ABC3-05428C3E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E92B6-CC63-4E57-A7D7-C61CBC02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绑定评估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AF485-845F-4AB6-A0FB-140CBF6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B7F12-8455-4166-8A9D-68A99E7E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33293-9B43-4C5A-8F77-B7E66C3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795AB-672B-49DE-9D6E-9D298084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94216-AFD5-43EF-9A12-10C4589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上传简历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0716C-EFEE-4684-BA35-FD10E4A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23B57-8D51-4853-A8E9-E85EAF3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3EE22-01E8-4FDC-8D1E-7CF1A8E6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DF86F-9198-421A-A85A-53601ED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D74C3-0169-410F-A640-20F63A96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分流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B1BDA-6D8F-4B1F-908E-1143CE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54A10-B6F4-4E96-BEE8-AD6BB05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74B2D-84D6-42FB-B1D8-C8C573D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76500"/>
            <a:ext cx="13144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83C1D-83D6-401D-9ABF-97B3557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71BF0D-9B61-4756-BD10-BF9876B0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670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初筛追踪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840A9-B047-49F7-8E6C-ED33C89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40957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5DD58-AB24-4DFC-85D5-FB84A2F9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进入候选人列表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D0817-F0FE-4C26-9E55-132ACC92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匹配成功、指定岗位上传、手动分配岗位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ABDDD-F397-4421-A471-A308288B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81450"/>
            <a:ext cx="40957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31DD2-A636-4EC6-9223-248E91C4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386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进入人才库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7C99EE-EF9F-4CAD-A291-A4A0DACC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 无匹配、识别异常、暂不选择岗位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C68955-7433-4E0A-8B9F-99ADCF62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AD292B-88A0-4A99-BF63-D61469B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840EB-BF49-4FA7-AE76-022441F1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6399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377BC-8BB1-4411-BB24-870B9364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POSITION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CD1B4-1DEF-4B71-ABC6-0A5DC2FA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岗位管理先选岗位，再看右侧候选人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C9FB0-C5E4-453D-8ECD-622264C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右侧默认就是候选人列表；JD、评估方案、编辑和删除收在岗位操作里。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8F325-2226-48C1-B29A-C222290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48625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4e1718b4a4e4c"/>
          <a:stretch xmlns:a="http://schemas.openxmlformats.org/drawingml/2006/main"/>
        </p:blipFill>
        <p:spPr>
          <a:xfrm xmlns:a="http://schemas.openxmlformats.org/drawingml/2006/main">
            <a:off x="670583" y="1924050"/>
            <a:ext cx="7850459" cy="3352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72052-16BE-4B93-B22D-734191F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387" y="2844026"/>
            <a:ext cx="908596" cy="1390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FE8C7-4158-4D02-8638-664F5556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087" y="272972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2E3AC-4BD0-473C-A4DE-394A7F7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087" y="2739251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407DC-DEFD-42F8-8308-35D6163C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新增岗位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357C7-1863-4F4F-B54B-4DDE050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510" y="2643675"/>
            <a:ext cx="360164" cy="15128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CE4CE-E047-449E-B7F9-02FC9BA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10" y="2529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3148A-B9B2-4E84-8F65-55D5AFD1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10" y="2538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E3579-F7A2-4B21-B6B0-E8882B6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状态下拉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F1719-9E72-43BB-90AB-B77F44C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016" y="3248815"/>
            <a:ext cx="1137791" cy="482476"/>
          </a:xfrm>
          <a:prstGeom xmlns:a="http://schemas.openxmlformats.org/drawingml/2006/main" prst="roundRect">
            <a:avLst>
              <a:gd name="adj" fmla="val 15794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889D4-23A9-43AB-97EE-0D48D967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16" y="313451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0B9E1-B2B1-4D67-9B3C-89670A2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16" y="314404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382B7-DF34-4116-802C-2ADF1975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29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岗位卡片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CBF7A-DA53-4F43-9C0F-1D7582CD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332" y="2578255"/>
            <a:ext cx="5472038" cy="2563665"/>
          </a:xfrm>
          <a:prstGeom xmlns:a="http://schemas.openxmlformats.org/drawingml/2006/main" prst="roundRect">
            <a:avLst>
              <a:gd name="adj" fmla="val 297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84A84-EBE2-4F7E-A94A-C950399E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032" y="246395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4E44B-D566-4864-9889-E7FAC7C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032" y="247348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7CB40-FDE9-4C49-A4A9-3E22F84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29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候选人区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C2923-AC19-4171-B40B-FC86C88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5C516-CFC4-4255-B104-A1573492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F5400-FBDE-4E4B-A595-3AF33CE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点「新增岗位」创建基础信息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D99AD-F63E-44B7-8577-BEA9811A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33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22242-E9E7-443A-AFCB-22F9D5A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选中岗位后右侧自动展示候选人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53A83-0271-4270-8B0C-774B2460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29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BC742-8B9A-456C-870F-761F2B5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状态下拉看草稿/招聘中/关闭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6444D-AAB8-4ABB-AB38-2225A89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C43C2D-114A-4CDF-B420-92CEBFB8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071A5-2ACF-418D-84E5-8F2CB7B5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3710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17C47-33A2-4758-B70A-D8EEACAA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POSITION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9BC94-FAAC-4277-8658-EF10C428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岗位高级操作只保留关键入口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8C0FF-506E-4DD4-9164-CAF986B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少露出按钮，常用流程更干净；需要配置时从岗位卡片或列表设置入口进入。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A336F-1C37-4DA4-A87F-156C388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143500" cy="3724275"/>
          </a:xfrm>
          <a:prstGeom xmlns:a="http://schemas.openxmlformats.org/drawingml/2006/main" prst="roundRect">
            <a:avLst>
              <a:gd name="adj" fmla="val 6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17585989f44de"/>
          <a:stretch xmlns:a="http://schemas.openxmlformats.org/drawingml/2006/main"/>
        </p:blipFill>
        <p:spPr>
          <a:xfrm xmlns:a="http://schemas.openxmlformats.org/drawingml/2006/main">
            <a:off x="879158" y="1866900"/>
            <a:ext cx="4947285" cy="3533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A4A13-0527-4BE7-BC0E-54A1162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2196719"/>
            <a:ext cx="3360964" cy="683196"/>
          </a:xfrm>
          <a:prstGeom xmlns:a="http://schemas.openxmlformats.org/drawingml/2006/main" prst="roundRect">
            <a:avLst>
              <a:gd name="adj" fmla="val 1115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730D8-27CD-4AE5-B68C-506879B2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208241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228A9-AE34-4F70-BC21-1B317E8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2091944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09FC4-B0E1-4A98-A0D4-00E1B3F2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JD 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99D62-2B88-4533-8783-E5ED665F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2879916"/>
            <a:ext cx="3360964" cy="683196"/>
          </a:xfrm>
          <a:prstGeom xmlns:a="http://schemas.openxmlformats.org/drawingml/2006/main" prst="roundRect">
            <a:avLst>
              <a:gd name="adj" fmla="val 1115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3907F-6F0B-4C9D-B7FE-324BFD8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276561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5F90B-8D7F-4CF1-A6FA-B9028611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2775141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4B52B-7029-4E58-A98D-FFD236D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评估方案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3ED25-931F-402B-938C-46504A7C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3563112"/>
            <a:ext cx="3360964" cy="683196"/>
          </a:xfrm>
          <a:prstGeom xmlns:a="http://schemas.openxmlformats.org/drawingml/2006/main" prst="roundRect">
            <a:avLst>
              <a:gd name="adj" fmla="val 1115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FAF8D-F123-4442-A8FF-7CBC839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344881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91453-2439-48DE-88B3-04B260F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3458337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175D1-4BB0-4304-9894-AD846B3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62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岗位编辑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7D18D-F405-444E-BC29-C7F1FE0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4258088"/>
            <a:ext cx="3360964" cy="848106"/>
          </a:xfrm>
          <a:prstGeom xmlns:a="http://schemas.openxmlformats.org/drawingml/2006/main" prst="roundRect">
            <a:avLst>
              <a:gd name="adj" fmla="val 898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84121-6497-4F67-8401-44B7991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414378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BC1E4-C634-4D29-AA48-CD921E1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186" y="4153313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61EED-F994-4861-8624-ED9EF886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62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删除岗位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659F8-077A-4CEB-BF2A-18B16D08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143250" cy="31718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97E6F-D921-4E98-B4AD-167163A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BAD14-3D4D-4708-8ADE-076C289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9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A4B27-2CFD-4B77-8DD0-224D8BE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JD 配置：生成和保存 JD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A6A57-4386-4EC1-9DAA-46B4AFA8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DCCE3-A72D-4339-A978-2476A505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评估方案：绑定三类方案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466F5-7046-4094-BDC5-85B15D3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6D460-0DA0-4EA3-B31C-7B269E40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814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岗位编辑：保留原完整配置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F7694-CC3A-4CB5-8A05-AE7D336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4E737-0294-4502-AA64-88DB41E4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删除岗位：二次确认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23E20-F20E-4309-9237-0DE7349C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38300-61A2-4AA7-9562-814D238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271BC6-B3D1-4D84-A89A-3E53AFD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6010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2F08A-99B3-4138-927E-5CBBC683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JD &amp;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86912-1722-42C4-BC45-01D2F44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JD 和评估方案是 AI 判断的前提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91AA-5622-4C4F-8168-662FB81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先让 AI 生成或维护 JD，再绑定初筛规则，批量上传时才不会乱跑。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7B066-A7C5-422F-A406-0310949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5476875" cy="2447925"/>
          </a:xfrm>
          <a:prstGeom xmlns:a="http://schemas.openxmlformats.org/drawingml/2006/main" prst="roundRect">
            <a:avLst>
              <a:gd name="adj" fmla="val 85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ef7e063734903"/>
          <a:stretch xmlns:a="http://schemas.openxmlformats.org/drawingml/2006/main"/>
        </p:blipFill>
        <p:spPr>
          <a:xfrm xmlns:a="http://schemas.openxmlformats.org/drawingml/2006/main">
            <a:off x="590898" y="1866900"/>
            <a:ext cx="5285678" cy="2257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F1DF1-418F-4E2F-8F5B-16114F0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178" y="2577163"/>
            <a:ext cx="2995613" cy="187201"/>
          </a:xfrm>
          <a:prstGeom xmlns:a="http://schemas.openxmlformats.org/drawingml/2006/main" prst="roundRect">
            <a:avLst>
              <a:gd name="adj" fmla="val 4070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2D9B6-CA3E-43A8-B851-8B88FCEF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878" y="24628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D971-FF6E-4705-9E1D-E282763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878" y="247238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FF4C6-9C13-4D89-9459-1C752AB1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填写要求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35D25-C40D-4EA0-8BBB-53D4E429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99" y="2797400"/>
            <a:ext cx="324892" cy="991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17280-D15F-4DDF-8BD0-7F5B3EF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599" y="2683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642B8-7FC0-4DA8-81F1-665312B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599" y="26926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A291B-1A75-44CE-BF66-697296A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AI 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13636-C138-4818-9E71-E3FA01B5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432" y="3862794"/>
            <a:ext cx="357932" cy="10736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CBF44-0BF7-4F12-9EC6-56F8BB6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32" y="374849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998C9-AE52-4E9F-B0C7-44987C3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32" y="3758019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1F25A-56A1-4A36-BFD0-083F8CC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保存版本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FAF03-E962-4791-B8DC-D0811884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5476875" cy="2447925"/>
          </a:xfrm>
          <a:prstGeom xmlns:a="http://schemas.openxmlformats.org/drawingml/2006/main" prst="roundRect">
            <a:avLst>
              <a:gd name="adj" fmla="val 85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294bda81c4b38"/>
          <a:stretch xmlns:a="http://schemas.openxmlformats.org/drawingml/2006/main"/>
        </p:blipFill>
        <p:spPr>
          <a:xfrm xmlns:a="http://schemas.openxmlformats.org/drawingml/2006/main">
            <a:off x="6477348" y="1866900"/>
            <a:ext cx="5285678" cy="22574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6FDF1-D552-418A-8330-A34D5B28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486" y="2260573"/>
            <a:ext cx="1954857" cy="407438"/>
          </a:xfrm>
          <a:prstGeom xmlns:a="http://schemas.openxmlformats.org/drawingml/2006/main" prst="roundRect">
            <a:avLst>
              <a:gd name="adj" fmla="val 1870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56A09-C426-4E97-AED3-1269800B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86" y="214627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2CD39-EE1C-40C1-A5FE-432D382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86" y="215579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9890D-2669-449E-8031-BD94C1A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JD 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A2F75-545A-4EFA-84E6-91534AF9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486" y="2712058"/>
            <a:ext cx="1954857" cy="751557"/>
          </a:xfrm>
          <a:prstGeom xmlns:a="http://schemas.openxmlformats.org/drawingml/2006/main" prst="roundRect">
            <a:avLst>
              <a:gd name="adj" fmla="val 1013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C35A9-E1C9-4BD2-BC3E-EC28642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86" y="259775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9C0BA-093F-4222-8D64-2F87486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86" y="2607283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424F9-C8DA-4C36-B37E-A75802A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初筛方案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A7F71-8C22-4AE6-BF70-F52F1D2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958" y="3813241"/>
            <a:ext cx="374452" cy="10736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A1764-64F2-4DCD-A38B-41FD570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658" y="369894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14E003-C589-45D2-BAF3-F8FF57C2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658" y="3708466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0C5F81-50D4-419A-99D3-E331548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绑定岗位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A1A0B-447D-4749-BAB2-46BB3F9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D8C41-B769-4CBA-BB7E-8240E35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573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JD 解决“岗位要什么人”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521639-AA8E-4DDB-8BB9-DF859D1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61588-7A28-494C-82C2-28F55E0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573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初筛方案解决“怎么判断人”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8D8EAA-2C2F-4D05-88A0-AB29EEF5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D5D82-6314-4852-A4CC-0843B5A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573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面试题方案解决“后续问什么”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D3AA04-C740-44A1-B14C-FF069246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FC9E78-6D3B-4BD4-8EC6-831DF9D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4677C0-F6DB-4FCA-B3B5-CB672673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0981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64F52-F580-40B3-93F3-BC0DC59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0F22E-AB85-4A7F-8C01-105DA59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上传简历时先选模式，再看分流结果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9AF84-E544-4D57-8339-EAA35FB7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指定岗位、AI 智能匹配、暂不选择岗位，对应三种不同的进入路径。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44B3-80C4-4895-AE7D-89A4C27F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00" cy="3362325"/>
          </a:xfrm>
          <a:prstGeom xmlns:a="http://schemas.openxmlformats.org/drawingml/2006/main" prst="roundRect">
            <a:avLst>
              <a:gd name="adj" fmla="val 67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423b3a51d45ff"/>
          <a:stretch xmlns:a="http://schemas.openxmlformats.org/drawingml/2006/main"/>
        </p:blipFill>
        <p:spPr>
          <a:xfrm xmlns:a="http://schemas.openxmlformats.org/drawingml/2006/main">
            <a:off x="610994" y="1828800"/>
            <a:ext cx="7426712" cy="3171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1947F-EDB2-44D3-8F15-2A38569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055" y="2621756"/>
            <a:ext cx="2058591" cy="166327"/>
          </a:xfrm>
          <a:prstGeom xmlns:a="http://schemas.openxmlformats.org/drawingml/2006/main" prst="roundRect">
            <a:avLst>
              <a:gd name="adj" fmla="val 45813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8436A-2F22-47D8-91E6-5C64C85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755" y="250745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7F294-CBCA-47AD-AD76-107E2AF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755" y="2516981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66090-3049-42BA-9A8C-5D095A8E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上传模式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41D2E-E724-4DD8-8B61-AC586316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3279330"/>
            <a:ext cx="2043113" cy="1431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47830-3D48-4312-BA95-B95476CC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16503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CD746-C1D7-49D6-AA77-832ED681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17455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3D0E6-561D-48F7-87E7-6D1468D7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组织/岗位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E9CE-9A36-4A17-A057-C26011E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3461129"/>
            <a:ext cx="386953" cy="96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8AABD-FD58-42A9-B8DC-7AF1DCC4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34682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C634F-DF9D-493D-886E-0C76099F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356354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65005-B47D-404E-80F6-CE035D8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62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高级选项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4FC50-58B1-48CA-962C-7A52F333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3619721"/>
            <a:ext cx="2043113" cy="444829"/>
          </a:xfrm>
          <a:prstGeom xmlns:a="http://schemas.openxmlformats.org/drawingml/2006/main" prst="roundRect">
            <a:avLst>
              <a:gd name="adj" fmla="val 1713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8A013-F277-4DC6-91AF-4EB4F85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50542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2DD02-1167-4B28-8604-85D6DD1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514946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6B236-D04F-409B-A159-8BC4303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62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拖拽简历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CB515-58FC-41AA-9786-AD0A168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127" y="4520983"/>
            <a:ext cx="352127" cy="15085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4696C-CCD9-48BC-B97E-B49F505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27" y="440668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BE966-AF80-41B3-ACFE-D5980B7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27" y="441620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E58A4-3108-45CE-9A9A-8CDFCC3B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62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开始上传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737A3-3434-4390-8CB5-6106EA11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6670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B0C0A-8D80-4440-9244-DF84675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三种模式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95B74-0190-4694-9E55-DABAB25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指定岗位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5429C-3276-49FF-B319-73F62AB2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已明确投递岗位，直接进入候选人列表。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BD744-C61C-438A-9426-BBAB531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AI 匹配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661F9-8D8A-444F-8AC7-36C12B8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系统自动识别岗位，失败则进人才库。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1D29C-3A93-4A05-9D66-0D66CBA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暂不选择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4EDC1A-53F0-46AC-BA71-E6940D1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814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先沉淀人才，后续人工分配岗位。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4269A-8126-4753-ACBC-E532BFCA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61913-0CFD-40CF-9EB7-579AAFB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AB4DE-3AEB-4F86-BF11-4C2F228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9617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5709A-DBA5-4461-B542-D9B223D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4495-4F75-4F5E-99E5-A8B72D19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智能匹配不是终点，是自动分流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07BD6-294F-40E0-BBCB-A584DCE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匹配成功进入候选人列表；无匹配或异常进入人才库，等待重新识别或人工分配。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BC42E-EA47-4818-9DC4-2C32161A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428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F56EA-BA7C-4F24-8BDD-917205E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71DB7-F21C-4E22-B0B2-A5176BB4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上传完成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EF024-7A74-4CD1-963C-F948AA4A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E4550-BF40-4A44-A050-1D00E859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717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2D963-AE7E-4B4A-915D-C0AC0E8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4287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888DD-4AA0-41CE-8257-143FF83A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70EBA-A071-41CF-8CE9-5654C859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匹配中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9FEFE-3815-472D-AF33-2844EFC1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DF996-23B9-4257-8536-5ED8599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8BD59-0CBD-4015-8B70-A0FDD63A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5240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68C05-583B-4EAC-928B-03285BBD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298C9-F034-4AFC-9988-D9FF5F2F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已识别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1A7DA-2249-43F5-9387-5148EE6C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5240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3A8ED-58C8-466F-B133-2C367453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07541-3163-45B4-8E0C-429F9DFB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待识别/异常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9C6F3-A447-465D-B326-22099860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03280-1C98-4653-B8CE-956FCC2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ECE49-4B3C-4694-A4AE-E8F3B89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2A7DC-18F4-4D18-8CEA-E4EDA5E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237E2-FCA3-492F-938B-63072C22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6192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A4123-2B70-4EF4-8703-514259D5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0173D-2A7D-44B2-91AF-0B029B32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候选人列表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02C8E-5133-4E4B-B05B-E423524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6192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079D1-D815-4988-BB36-03240C61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B0DDC-7D77-4D46-9781-4703DDD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人才库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D3465-8565-4CE7-B0E9-D60DE21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143000" cy="17907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39A2C-EC4E-4EBB-8E3A-664FF36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66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HR 操作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5BD333-723F-4654-B490-D6321ED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241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9DDF4-75FD-4C58-BC2A-5220C139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003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重新识别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606822-2562-4404-B26D-21014CD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573FC-8D10-4483-9DBB-79F1750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575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手动分配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F17C35-30E9-4BAF-9350-95B1D6ED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885825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9D90FD-1D37-4964-942B-BC42F7EA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339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CFE69-B878-46BB-A9D8-E58A6EBA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33925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不要只看当前页数据；筛选、滚动加载和匹配结果都以后台查询为准。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82C2DD-4EFD-4D00-9964-843D01CD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7D6449-0CFD-4F6C-B2F9-6290A5F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382588-EBD8-4A3B-BF0D-76ADB861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7581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D5E2C-8700-40F6-BE01-AF7F568A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2D8F3-FD7F-4E84-94F3-C07D7B0F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候选人列表负责推进和批量处理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6B4D8-2082-4CD1-A23A-703F9D4F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筛选和排序会重新请求后台数据，不只处理已经加载的 10 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41A90-A3BC-4420-B08D-CFD88E5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8048625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b3deba1fe4dbb"/>
          <a:stretch xmlns:a="http://schemas.openxmlformats.org/drawingml/2006/main"/>
        </p:blipFill>
        <p:spPr>
          <a:xfrm xmlns:a="http://schemas.openxmlformats.org/drawingml/2006/main">
            <a:off x="594383" y="1866900"/>
            <a:ext cx="7850459" cy="3352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C2B8D-7685-45EF-9D1A-762CB56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089" y="2557904"/>
            <a:ext cx="1301502" cy="159462"/>
          </a:xfrm>
          <a:prstGeom xmlns:a="http://schemas.openxmlformats.org/drawingml/2006/main" prst="roundRect">
            <a:avLst>
              <a:gd name="adj" fmla="val 47786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5C3D4-36DD-47EC-B357-53CBC035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89" y="244360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F3D5F-F55F-4BCA-906F-7865BBFC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89" y="2453129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C017B-4D75-4780-B317-DCE7CDC0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状态/岗位筛选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BB21A-3819-46E2-80C8-D680C1A3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779" y="2754165"/>
            <a:ext cx="425648" cy="12675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7677E-2B4F-422B-9BBF-8C1AAFA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479" y="263986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6A730-03D6-40FA-9FCC-C5C4A848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479" y="264939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76F8F-53B8-4EF8-8E20-E60D9D29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批量入队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BC7C7-FC6E-4669-B29B-7BF7472B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40" y="2754165"/>
            <a:ext cx="532061" cy="12675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0B702-926F-4DFD-8D32-42A3DC7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40" y="263986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C3296-3BB2-4341-9500-226626B8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40" y="264939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A95DC-9FB6-4590-8E05-85EEDB1B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批量重新初筛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CC8FA-F613-4ACD-A4F1-1C63E710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935" y="2929983"/>
            <a:ext cx="286494" cy="1226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1C88D-249B-416E-951B-6E62E38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635" y="281568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1DD55-6D4A-4607-9E5C-01917F62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635" y="282520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92B59-DB1F-43CA-A194-958E066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匹配度排序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CBB30-BFBC-46F0-B430-C3F06E4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43" y="2754165"/>
            <a:ext cx="417463" cy="12675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06D3C-288E-43F1-9381-99E91D0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043" y="263986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1EE13-FE68-4BA1-B6ED-782F6EEA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043" y="264939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D561D-33E7-4C94-88F4-0413CA08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高级操作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C0D34-A615-4A23-9A4E-FA3C0087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日常动作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6EF50-2669-4754-AD4A-BC8E2270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57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1305A-350C-402E-8A1F-4723EAAA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筛选：初筛通过 / 初筛淘汰 / 岗位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23CFF-A907-44F1-AD1D-6D63697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33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9F573-E79A-46E7-9835-04E4AC12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排序：按匹配度重新加载第一页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9CB7A-E376-4B91-AAA7-C1A64EB9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9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CD217-7764-43E6-A032-6E8C887B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批量：入队、重新初筛、导出、归入人才库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7500EB-0486-49B2-A97F-4C6CC34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6C858-06B7-4BEB-B602-53F96A9C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FF76D1-0287-4C25-901A-526399E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9821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F47DC-FE2C-4694-9E72-AF6E13A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SCREENING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48BE8-0388-4E1D-8662-FC1134B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初筛结果要看结论，也要看依据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D56A-CD75-49D4-8E25-588769E3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总分只是入口，真正要看维度分、优势、风险和 HR 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9EC00-147E-45AE-8DEB-2CC7BCD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19100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388CF-68D2-4E82-B144-1BF216B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初筛结果读取顺序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2A072-91BE-4EF6-ACEC-81BB179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6F427-29D1-43CD-ABFA-91724F4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总分：快速判断当前建议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8D1FE-3A61-4A39-979E-ED750DC2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9AE55-2A59-43C0-8C9B-7B30F05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维度分：能力结构是否均衡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AEFD3-D464-49D0-9040-BAD12BC2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DC4EA-8038-4FE8-B8AE-31ED692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优势/风险：给面试官看重点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AA896-B586-444D-AFCA-2A45B72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E3B07-5EB1-41A7-900D-F7C3CAB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HR 反馈：记录人工判断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655BA-8849-4253-A779-BEF9083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476500" cy="2476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DDF72-46A0-43FC-963C-7F56762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82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82701-5D59-427D-805B-252ECD30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初筛通过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D2434-3CCD-4FAD-9F67-D8525986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161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DC308-BEAC-457F-84E6-36A816CF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7665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FE68D-A668-4E80-8B28-0B535F9D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476500" cy="2476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CE91F-062D-4FAF-98BB-EE079111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1EC09-C4DB-48A4-B447-B89E2A05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B3F9F-353A-4277-A346-B4525B36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通过：进入面试推进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31CE2-F604-488B-B9B5-7F3A10E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6CDA1-CC1E-4C43-A14F-A1BEF008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淘汰：归档到人才库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D2603-BAF1-4153-AB77-1AF5F76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AA0E3-159F-4741-81A8-2E91653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不满意：详情页重新初筛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E2694-502F-4F1A-BCC1-11D64ED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76380-30EB-4044-BE73-D359D5B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22ECC-BA01-4CC6-9895-0A21FB4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7125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12DD5-3AE6-41C7-B3C4-3309271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TALENT POOL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226C-C876-442F-9D65-C4E1D963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人才库处理无法自动归岗的人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97C67-80C9-471F-B393-D05A9456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待处理分组看 AI 无匹配/异常；归档分组看初筛归档和人工移入。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734E-8657-4108-A317-C667753E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8286750" cy="3648075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b0afc82cd4eeb"/>
          <a:stretch xmlns:a="http://schemas.openxmlformats.org/drawingml/2006/main"/>
        </p:blipFill>
        <p:spPr>
          <a:xfrm xmlns:a="http://schemas.openxmlformats.org/drawingml/2006/main">
            <a:off x="552682" y="1866900"/>
            <a:ext cx="8095785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CF424-9C4D-452C-839F-2E480D1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649" y="2992720"/>
            <a:ext cx="6864945" cy="472254"/>
          </a:xfrm>
          <a:prstGeom xmlns:a="http://schemas.openxmlformats.org/drawingml/2006/main" prst="roundRect">
            <a:avLst>
              <a:gd name="adj" fmla="val 1613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6675-17A8-4447-90DF-5252FCDD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49" y="287842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46C62-78CE-4FA1-8608-5A6C7FB5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49" y="288794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CBD45-584D-44A9-9FF6-1E8763F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指标筛选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A9BB1-1F1F-4BA0-B79D-37A68817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866" y="3937228"/>
            <a:ext cx="463848" cy="1180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B3E89-A9AD-4DC1-9D79-A47D20B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6" y="382292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45FFA-21F0-441A-8FD3-46A6828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6" y="3832453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DAF4B-4940-4AED-B14F-FF3D1D0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95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待处理分组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3A72B-8C22-4A20-8505-DFE8612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432" y="3958311"/>
            <a:ext cx="387945" cy="1054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4E8C1-22ED-4E59-BDB0-3533A8E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132" y="384401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E3BBD-5C66-4A25-BCC7-C39CD45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132" y="3853536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607FA-A7B2-4B60-A9F3-249F7CE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95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全选分组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BB03B-BE3B-4F68-B647-B5B3BD9A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569" y="4152273"/>
            <a:ext cx="446980" cy="1391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462B4-62B7-41EE-896E-360F20D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269" y="403797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BAE4D-45AA-4218-84C2-2507961B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269" y="404749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DC6E8-8B56-4BDB-9FF6-D72924AE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95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重新识别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73014-DD12-47E2-92AB-182EB2CF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284" y="4152273"/>
            <a:ext cx="455414" cy="1391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1E6B2-C71C-48F4-94C6-18CED827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84" y="403797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B6855-8CEB-4C7A-A4F0-DD2BCCF4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84" y="404749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7B001-165B-4BEC-B8BB-C8756A9D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95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手动分配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E8B4F-C016-4A5F-96A2-2564B08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回流逻辑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77D6B-0059-4F83-A56F-41B10A3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F2CAF-595B-4B89-AB6E-B781009B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重新识别成功后进入候选人列表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2A25E-6422-4049-B56D-6E29389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5C7C3-B1F4-4CDE-9760-4EB6BF8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手动分配岗位后重新进入该岗位流程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D6560-108E-429C-AAAF-263CF8C8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968FC8-771C-443C-A579-2B5A8F7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147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批量操作完成后会取消过期选择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DDEC90-B41F-496E-B613-93B6288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FA649B-B535-426C-AAF1-DC335952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7FA321-F11D-4C08-AC02-38E6886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9997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22D5D-4451-4872-ACDD-17CFDF11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ASSESSMENT PLANS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AD237-FCED-46D0-BA87-5B717DCC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评估方案在管理设置里维护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911F4-12A4-4188-A177-069F5B44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初筛、JD 生成、面试题三类方案用途不同，绑定岗位后才会影响招聘流程。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9F12-040A-4BB2-8AB2-0A24637C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620000" cy="3362325"/>
          </a:xfrm>
          <a:prstGeom xmlns:a="http://schemas.openxmlformats.org/drawingml/2006/main" prst="roundRect">
            <a:avLst>
              <a:gd name="adj" fmla="val 67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d975c6ccc486d"/>
          <a:stretch xmlns:a="http://schemas.openxmlformats.org/drawingml/2006/main"/>
        </p:blipFill>
        <p:spPr>
          <a:xfrm xmlns:a="http://schemas.openxmlformats.org/drawingml/2006/main">
            <a:off x="610994" y="1809750"/>
            <a:ext cx="7426712" cy="3171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12D9A-3D21-4142-8865-DB2ED19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502" y="2718749"/>
            <a:ext cx="383084" cy="14698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220B5-74C1-428F-ACB5-E8C61EA4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202" y="260444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41808-E574-4AB3-8AAD-E2ECFB3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202" y="2613974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C4343-1D84-4CD5-A857-7CC5C6C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AI 初筛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DCBF9-417D-436D-A8EC-37A4563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541" y="2718749"/>
            <a:ext cx="530126" cy="14698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288A-765D-4552-A81B-0D5EE2B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241" y="260444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F7C89-B096-4248-B9D5-E25A85D5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241" y="2613974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5402B-28F4-4FC4-A236-76B659E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新增方案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5C225-3C1A-476D-A2AB-7EB8C06A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634" y="3546518"/>
            <a:ext cx="1044773" cy="13151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91774-C231-41E0-86B6-CCFD8A0D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334" y="343221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E17DC-8632-449F-BD70-563F537F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334" y="3441743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712A3-3738-43E5-BF86-2A4B2E0D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类型筛选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1CDC2-6E4C-41D6-89E1-2575046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678" y="4254376"/>
            <a:ext cx="5881688" cy="440961"/>
          </a:xfrm>
          <a:prstGeom xmlns:a="http://schemas.openxmlformats.org/drawingml/2006/main" prst="roundRect">
            <a:avLst>
              <a:gd name="adj" fmla="val 1728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96FDC-B1FE-4ED1-8AE5-A0AAB6B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78" y="414007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A95DE-4F10-4881-A78A-67F7BBC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78" y="4149601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AFC18-A199-47C1-A984-0A14D4AE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方案列表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57886-B32D-4028-8387-BA2A33B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2571750" cy="1209675"/>
          </a:xfrm>
          <a:prstGeom xmlns:a="http://schemas.openxmlformats.org/drawingml/2006/main" prst="roundRect">
            <a:avLst>
              <a:gd name="adj" fmla="val 14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a9d958b1449a0"/>
          <a:stretch xmlns:a="http://schemas.openxmlformats.org/drawingml/2006/main"/>
        </p:blipFill>
        <p:spPr>
          <a:xfrm xmlns:a="http://schemas.openxmlformats.org/drawingml/2006/main">
            <a:off x="8715375" y="2191841"/>
            <a:ext cx="2381250" cy="1016992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D6ACA-5533-4B4D-A1B7-BF51A55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617" y="2559890"/>
            <a:ext cx="664766" cy="1081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F2312-730E-4B5B-BB5B-19D1C8D7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317" y="244559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142E0-BAC5-4383-B3D4-37CF9369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317" y="245511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E7321-6F64-444A-839D-3EFB244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选择类型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75400-294C-427F-9A2F-8E7BC36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4E3DB-E4F9-48D0-8C35-1CBBF6D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先建方案，再绑定岗位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EAF72-0EC1-4436-8093-CE7C768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70E0E-020D-469E-8BA4-D820ABAF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生成后仍需检查并保存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F3E5C-3AEE-4962-A6BB-9923767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3D0EE-7619-4557-933A-DD0A9AF2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同岗位只展示已绑定或本次待绑定方案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9958B-454C-4AB3-BB8E-2BFA010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84590-8D0B-46F0-83F1-4CDC364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E597C-4ACB-487F-8192-D4FBBAD2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2763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11C20-D965-48A5-9046-49E48A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00E7-928C-4FB4-B851-92F43B9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审计中心用于追溯 AI 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F7C8F-6773-4E57-94A8-15EA8DB2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出现异常时，不靠猜；看任务类型、候选人、状态、耗时、输入输出和失败原因。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4C415-F2F7-4BF1-AEE5-87C47A7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8286750" cy="3648075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55f029f244d6e"/>
          <a:stretch xmlns:a="http://schemas.openxmlformats.org/drawingml/2006/main"/>
        </p:blipFill>
        <p:spPr>
          <a:xfrm xmlns:a="http://schemas.openxmlformats.org/drawingml/2006/main">
            <a:off x="590782" y="1866900"/>
            <a:ext cx="8095785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2C1E5-2E95-4E44-8623-D7BB486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546" y="2541549"/>
            <a:ext cx="7075785" cy="573451"/>
          </a:xfrm>
          <a:prstGeom xmlns:a="http://schemas.openxmlformats.org/drawingml/2006/main" prst="roundRect">
            <a:avLst>
              <a:gd name="adj" fmla="val 1328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44225-135D-44CD-A2E2-246970B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46" y="242724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F09F8-B305-437F-A4E3-DE648E99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46" y="2436774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D6351-F88F-4186-BB34-BAA457CD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筛选区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A8D89-4C3A-4425-9821-B976245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546" y="3224631"/>
            <a:ext cx="3782467" cy="1964915"/>
          </a:xfrm>
          <a:prstGeom xmlns:a="http://schemas.openxmlformats.org/drawingml/2006/main" prst="roundRect">
            <a:avLst>
              <a:gd name="adj" fmla="val 387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1BCEE-0579-4AFE-95FE-BFF88FDA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46" y="31103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5F31C-858D-401C-9E51-7DA8766D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46" y="3119856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6F807-C099-4457-AC74-97FA47CB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86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任务列表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78DE8-B77B-42F2-805A-40E86E3D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66" y="3224631"/>
            <a:ext cx="3175248" cy="1964915"/>
          </a:xfrm>
          <a:prstGeom xmlns:a="http://schemas.openxmlformats.org/drawingml/2006/main" prst="roundRect">
            <a:avLst>
              <a:gd name="adj" fmla="val 387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9F2EC-003E-45FD-A09C-3226AE26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566" y="311033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20AF3-EB3A-4DBF-A746-5B477E2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566" y="3119856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3B7A9-F6C1-43B9-A939-C9F7183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86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单条详情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1641C-4CB7-4A7F-B61C-F3D420F1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566" y="2756593"/>
            <a:ext cx="463848" cy="156013"/>
          </a:xfrm>
          <a:prstGeom xmlns:a="http://schemas.openxmlformats.org/drawingml/2006/main" prst="roundRect">
            <a:avLst>
              <a:gd name="adj" fmla="val 4884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599CA-D941-49B4-9A74-FA5BC93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66" y="264229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3B1FB-D3FA-4444-997D-498A4BA8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66" y="265181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2E246-9B2F-488D-82A2-873043CE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刷新任务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94177-10ED-44A7-A914-ED63596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148" y="2756593"/>
            <a:ext cx="430113" cy="156013"/>
          </a:xfrm>
          <a:prstGeom xmlns:a="http://schemas.openxmlformats.org/drawingml/2006/main" prst="roundRect">
            <a:avLst>
              <a:gd name="adj" fmla="val 4884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C262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34C61-9F8E-4558-8015-2A31118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848" y="264229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F113C-B974-486E-9D48-CE386935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848" y="2651818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963B7-E9A8-4FCE-9207-6EA47B8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86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展开筛选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644B7-EA8C-4A67-A687-3254572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排查顺序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33BBA-21FC-4FB6-BABA-3EA82CB0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90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B016E-4260-4DB6-AF77-4605ECF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先按任务类型和状态筛选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B7FAE-33B9-45FA-B23D-F297E385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05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81AC6-DDDB-4EC6-8CFB-E1D68AF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再点单条记录看详情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E1D91-968D-4DF0-8231-996ECFF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9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2B68D7-E76B-4598-AFF0-CEB7B212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最后对照失败原因处理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2A349-0F27-4AF0-A809-663EE59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F01C2-C060-4211-A8B3-BAB11381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2DFEA-CF1C-45CF-8CC7-3E12F51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5371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F3358-DDA5-4E48-843C-D2C1FD12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USAGE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B06D4-952F-4EFA-9EA2-520FD849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使用后的效果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4AE47-3866-4211-A08C-9BD718F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招聘动作从“人找信息”变成“系统推着流程走”。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7455E-991E-43AE-AD4A-B759361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1374D-A0E7-4270-9915-2A4D18DF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CD9CB-7A80-4B68-BEB9-78305A1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更快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BBFF1-CD57-4CA5-AE3E-8926AB3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批量上传后自动匹配、自动入队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9DE90-F51D-4C80-86EF-A33A1EED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78517-5222-4CBF-9835-057F086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BC775-47A5-40AA-97FC-CFF7FE14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更准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C166D-62F7-41B1-8FF5-EAD8FF1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岗位 JD 与初筛方案统一标准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1D52C-981B-47BD-8321-8477B3B8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2333625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D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08A7E-5304-4F38-A671-BE859323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450FF-5B09-48B6-BF24-F1822D5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更稳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53FAE-3E3A-4708-91B1-4F01C880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异常进入人才库并可审计追溯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6BFED-26C4-4879-B44D-F34B8472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809750" cy="23812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F00E6-70D0-4B24-BFD4-D9F94AF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E612E-D7DC-4E07-8BFA-31B54759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05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7DD3F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B8B07-8FC6-4114-9FF8-28F1CC8B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38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岗位已建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148BA-BE12-48CD-A657-5F75E89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7DD3F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8ED81-2802-4383-B17F-5755EAE5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JD 已保存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27B16-DA93-4A5C-BCEC-0E4E0190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90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7DD3F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AB241-4927-46E1-94C4-048BB22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243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方案已绑定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246E7-4DE1-42CC-BD55-EE1068D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33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7DD3F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ECE56-4D29-4CA5-BC0D-73AA566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672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自动初筛已确认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9F42CB-24A5-4666-A1C4-6381446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建议把这份 PPT 用于新人培训和主管演示；具体操作细节继续看 SOP Word。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45E3C-3746-421A-9CDB-40F06782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52FCF-4A16-4BA1-92D8-146BBCC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招聘系统 SOP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26BB5-0566-434A-B53F-0E4DA98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5360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2026-05-21T04:25:15.9240000Z</dcterms:created>
  <dcterms:modified xsi:type="dcterms:W3CDTF">2026-05-21T04:25:15.9240000Z</dcterms:modified>
</coreProperties>
</file>